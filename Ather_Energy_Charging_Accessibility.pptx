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5"/>
  </p:normalViewPr>
  <p:slideViewPr>
    <p:cSldViewPr snapToGrid="0" snapToObjects="1">
      <p:cViewPr varScale="1">
        <p:scale>
          <a:sx n="99" d="100"/>
          <a:sy n="99" d="100"/>
        </p:scale>
        <p:origin x="192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8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1.png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4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hyperlink" Target="https://ai.studio/apps/238fd53c-1aea-4de6-9d6d-1316c4127931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156" y="1669256"/>
            <a:ext cx="2833687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5447" y="2031206"/>
            <a:ext cx="884110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sz="3750" b="1" i="0" u="none" dirty="0">
                <a:solidFill>
                  <a:srgbClr val="F8FAFC"/>
                </a:solidFill>
                <a:latin typeface="Poppins"/>
              </a:rPr>
              <a:t>Enhancing Charging Accessibility &amp;</a:t>
            </a:r>
            <a:r>
              <a:rPr dirty="0"/>
              <a:t>
</a:t>
            </a:r>
            <a:r>
              <a:rPr sz="3750" b="1" i="0" u="none" dirty="0">
                <a:solidFill>
                  <a:srgbClr val="F8FAFC"/>
                </a:solidFill>
                <a:latin typeface="Poppins"/>
              </a:rPr>
              <a:t> Customer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421856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Proposed Product Solutions &amp; Innovations for Strengthening the Ather Grid Charging Ecosystem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0758" y="4345781"/>
            <a:ext cx="5376876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5212" y="5003006"/>
            <a:ext cx="4981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 dirty="0">
                <a:solidFill>
                  <a:srgbClr val="64748B"/>
                </a:solidFill>
                <a:latin typeface="Inter"/>
              </a:rPr>
              <a:t>Masai School X IIM Rohtak — AI-Powered Product Management &amp; Growth Marketing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1735931"/>
            <a:ext cx="109537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76650" y="4474368"/>
            <a:ext cx="1457325" cy="1619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34D399"/>
                </a:solidFill>
                <a:latin typeface="Inter SemiBold"/>
              </a:rPr>
              <a:t>Bhavika Bharadwaj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4475" y="4460081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FFFFF"/>
                </a:solidFill>
                <a:latin typeface="Inter"/>
              </a:rPr>
              <a:t>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62600" y="4474368"/>
            <a:ext cx="1066800" cy="1619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34D399"/>
                </a:solidFill>
                <a:latin typeface="Inter SemiBold"/>
              </a:rPr>
              <a:t>Sneha Tiwari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4460081"/>
            <a:ext cx="47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FFFFF"/>
                </a:solidFill>
                <a:latin typeface="Inter"/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4474368"/>
            <a:ext cx="1457325" cy="1619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34D399"/>
                </a:solidFill>
                <a:latin typeface="Inter SemiBold"/>
              </a:rPr>
              <a:t>Vardaan Mahendra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6650" y="4493418"/>
            <a:ext cx="1714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600" y="4493418"/>
            <a:ext cx="1714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8025" y="4493418"/>
            <a:ext cx="1714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045815"/>
            <a:ext cx="3549699" cy="24431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24" y="1045815"/>
            <a:ext cx="3549699" cy="24431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524" y="1045815"/>
            <a:ext cx="3549699" cy="24431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489495"/>
            <a:ext cx="261937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185544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The Core Barrier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179290"/>
            <a:ext cx="30734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Range anxiety, charger unavailability, and residential parking constraints remain the top obstacles preventing Indian two-wheeler riders from switching to EVs.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9349" y="185544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Product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9349" y="2179290"/>
            <a:ext cx="30734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By shifting from basic hardware expansion to data intelligence and predictive software, Ather can eliminate charging uncertainty at every stage of the user journey.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7649" y="185544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Strategic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7649" y="2179290"/>
            <a:ext cx="307344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5 proposed high-impact product solutions designed to boost network utilization, enhance customer retention, and capitalize on upcoming policy mandates like Delhi EV Policy 2026.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1322040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9349" y="1322040"/>
            <a:ext cx="25717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7649" y="1322040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9162" y="428625"/>
            <a:ext cx="11266408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045815"/>
            <a:ext cx="5381625" cy="363170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489495"/>
            <a:ext cx="195262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1045815"/>
            <a:ext cx="27146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2925" y="1407765"/>
            <a:ext cx="53816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Ather Energy is one of India's leading electric vehicle manufacturers, pioneering smart, connected, and performance-driven electric scooters designed specifically for urban mobility.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055340"/>
            <a:ext cx="5362575" cy="36126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2245965"/>
            <a:ext cx="5076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In-House Vertical Integration: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Battery packs, BMS, vehicle control software, and charging hardware developed internally.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855565"/>
            <a:ext cx="5076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Software-First Architecture: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Connected dashboards and Over-the-Air (OTA) continuous feature updates.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465165"/>
            <a:ext cx="5076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Ecosystem Strategy: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Integrated offering of vehicles, Ather Grid fast chargers, and mobile application services.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2269777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2879377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3488977"/>
            <a:ext cx="17145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2487" y="428625"/>
            <a:ext cx="11336416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Company Overview: Ather Energy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045815"/>
            <a:ext cx="3549699" cy="2228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24" y="1045815"/>
            <a:ext cx="3549699" cy="2228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524" y="1045815"/>
            <a:ext cx="3549699" cy="2228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489495"/>
            <a:ext cx="328612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185544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Ather 450X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179290"/>
            <a:ext cx="30734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Flagship high-performance scooter engineered for urban enthusiasts featuring Warp mode, touchscreen navigation, and fast-charging capability.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9349" y="185544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Ather 450S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9349" y="2179290"/>
            <a:ext cx="30734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Accessible premium offering designed for daily commuters, retaining smart software connectivity with optimized battery economics.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7649" y="185544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Ather Rizta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7649" y="2179290"/>
            <a:ext cx="30734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Family-centric electric scooter designed for ultimate comfort, expanded seating, practical storage, and high safety standards.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1322040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9349" y="1322040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7649" y="1322040"/>
            <a:ext cx="428625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5837" y="428625"/>
            <a:ext cx="11196399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Product Portfolio &amp; Connected Tech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045815"/>
            <a:ext cx="5381625" cy="307359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489495"/>
            <a:ext cx="300037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2925" y="1045815"/>
            <a:ext cx="5650706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8FAFC"/>
                </a:solidFill>
                <a:latin typeface="Poppins"/>
              </a:rPr>
              <a:t>India's Fast-Charging Network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1430535"/>
            <a:ext cx="53816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Ather Grid was created to solve the fundamental challenge of EV charging by providing high-speed DC charging across key metropolitan and highway hubs.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1055340"/>
            <a:ext cx="5362575" cy="30545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2268735"/>
            <a:ext cx="5076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DC Fast Charging: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Rapid energy top-ups for minimum downtime during transit.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878335"/>
            <a:ext cx="5076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App Discovery: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Live status and location mapping via Ather Mobile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487935"/>
            <a:ext cx="5076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LECCS Interoperability: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Supporting Light Electric Combined Charging Systems for broader OEM adoption.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2292548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2902148"/>
            <a:ext cx="1333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3511748"/>
            <a:ext cx="219075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7262" y="428625"/>
            <a:ext cx="11226403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Ather Grid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045815"/>
            <a:ext cx="3193405" cy="2133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489495"/>
            <a:ext cx="261937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1398240"/>
            <a:ext cx="24885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10B981"/>
                </a:solidFill>
                <a:latin typeface="Poppins"/>
              </a:rPr>
              <a:t>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2426940"/>
            <a:ext cx="248855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Inter SemiBold"/>
              </a:rPr>
              <a:t>Riders Report Range Anxiety During Intercity Journeys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530" y="1192559"/>
            <a:ext cx="15430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93530" y="1554509"/>
            <a:ext cx="7828322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F8FAFC"/>
                </a:solidFill>
                <a:latin typeface="Poppins"/>
              </a:rPr>
              <a:t>Charging Uncertainty Impedes Mass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3530" y="1984920"/>
            <a:ext cx="7455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Despite improvements in vehicle performance and battery range, uncertainty surrounding charger availability, long queue wait times, and poor route planning keeps potential buyers hesitant.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3530" y="2575470"/>
            <a:ext cx="7455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Customer expectations are rapidly evolving: riders no longer just want chargers nearby—they demand a predictable, seamless, and reserved charging journey.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9162" y="428625"/>
            <a:ext cx="11266408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Problem Statement &amp; Context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045815"/>
            <a:ext cx="3549699" cy="2228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24" y="1045815"/>
            <a:ext cx="3549699" cy="2228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524" y="1045815"/>
            <a:ext cx="3549699" cy="2228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489495"/>
            <a:ext cx="261937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185544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Uneven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179290"/>
            <a:ext cx="30734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Public chargers are heavily concentrated in Tier-I commercial hubs, leaving residential neighborhoods, Tier II/III cities, and highways underserved.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9349" y="185544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Apartment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9349" y="2179290"/>
            <a:ext cx="30734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Urban apartment tenants and society residents lack dedicated parking sockets, making home charging nearly impossible and forcing reliance on public grids.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7649" y="185544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Peak Congestion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7649" y="2179290"/>
            <a:ext cx="30734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High utilization during morning/evening commute hours leads to long wait queues, unknown occupancy statuses, and high friction for time-sensitive riders.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1322040"/>
            <a:ext cx="3905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9349" y="1322040"/>
            <a:ext cx="42862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7649" y="1322040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9162" y="428625"/>
            <a:ext cx="11266408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Key Customer Pain Points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045815"/>
            <a:ext cx="3600450" cy="12352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75" y="1045815"/>
            <a:ext cx="3600450" cy="12352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5" y="1045815"/>
            <a:ext cx="3600450" cy="12352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433488"/>
            <a:ext cx="3600450" cy="12352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5775" y="2433488"/>
            <a:ext cx="3600450" cy="12352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625" y="2433488"/>
            <a:ext cx="3600450" cy="12352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489495"/>
            <a:ext cx="300037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2025" y="1198215"/>
            <a:ext cx="3180397" cy="182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>
                <a:solidFill>
                  <a:srgbClr val="34D399"/>
                </a:solidFill>
                <a:latin typeface="Poppins"/>
              </a:rPr>
              <a:t>Charging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2975" y="1198215"/>
            <a:ext cx="3140392" cy="182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>
                <a:solidFill>
                  <a:srgbClr val="34D399"/>
                </a:solidFill>
                <a:latin typeface="Poppins"/>
              </a:rPr>
              <a:t>Residential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5825" y="1198215"/>
            <a:ext cx="3140392" cy="182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>
                <a:solidFill>
                  <a:srgbClr val="34D399"/>
                </a:solidFill>
                <a:latin typeface="Poppins"/>
              </a:rPr>
              <a:t>Business &amp; Partnerships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2585888"/>
            <a:ext cx="3140392" cy="182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>
                <a:solidFill>
                  <a:srgbClr val="34D399"/>
                </a:solidFill>
                <a:latin typeface="Poppins"/>
              </a:rPr>
              <a:t>Technology &amp;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4875" y="2585888"/>
            <a:ext cx="3180397" cy="182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>
                <a:solidFill>
                  <a:srgbClr val="34D399"/>
                </a:solidFill>
                <a:latin typeface="Poppins"/>
              </a:rPr>
              <a:t>Customer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6775" y="2585888"/>
            <a:ext cx="3160395" cy="182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>
                <a:solidFill>
                  <a:srgbClr val="34D399"/>
                </a:solidFill>
                <a:latin typeface="Poppins"/>
              </a:rPr>
              <a:t>Infrastructure Gaps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1213395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6775" y="1457176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No advance slot 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1681013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Unpredictable peak-hour queues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1904851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High station idle times post-charging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6275" y="1213395"/>
            <a:ext cx="1905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19625" y="1457176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Lack of dedicated parking bays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5" y="1681013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Housing society approvals friction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9625" y="1904851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Shared electricity meter barriers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9125" y="1213395"/>
            <a:ext cx="19050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72475" y="1457176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Limited fuel station partnerships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2475" y="1681013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High capex for solo expansion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2475" y="1904851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Slow CPO onboarding timelines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425" y="2601069"/>
            <a:ext cx="1905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6775" y="2844849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No dynamic route optimization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3068687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Lack of predictive occupancy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775" y="3292524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Manual searching required while riding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6275" y="2601069"/>
            <a:ext cx="1524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619625" y="2844849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Frequent detour requirements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9625" y="3068687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Uncertainty in long-distance trips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9625" y="3292524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Fear of stranded low-SOC batteries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39125" y="2601069"/>
            <a:ext cx="171450" cy="15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72475" y="2844849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Few neighborhood chargers deployed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2475" y="3068687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Unbalanced spatial distribution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2475" y="3292524"/>
            <a:ext cx="31242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Highway charging dead zones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425" y="1457176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425" y="1681013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3425" y="1904851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6275" y="1457176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6275" y="1681013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6275" y="1904851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9125" y="1457176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39125" y="1681013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39125" y="1904851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3425" y="2844849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425" y="3068687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3425" y="3292524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6275" y="2844849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6275" y="3068687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6275" y="3292524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39125" y="2844849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39125" y="3068687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39125" y="3292524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10B981"/>
                </a:solidFill>
                <a:latin typeface="Inter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7262" y="428625"/>
            <a:ext cx="11226403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Root Cause Analysis (Fishbone)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045815"/>
            <a:ext cx="5381625" cy="321915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489495"/>
            <a:ext cx="261937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1045815"/>
            <a:ext cx="24384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2925" y="1407765"/>
            <a:ext cx="5650706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8FAFC"/>
                </a:solidFill>
                <a:latin typeface="Poppins"/>
              </a:rPr>
              <a:t>100% Electric 2-Wheeler Mandate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925" y="1773435"/>
            <a:ext cx="5381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Under the approved Delhi EV Policy 2026, all new two-wheelers registered in Delhi starting April 1, 2028 MUST be 100% electric.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925" y="2363985"/>
            <a:ext cx="5381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Product Management Insight: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This policy is not merely a legal rule—it is a massive, guaranteed demand-generation catalyst.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055340"/>
            <a:ext cx="5362575" cy="32001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7725" y="2954535"/>
            <a:ext cx="50768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Strategic pre-expansion of Ather Grid across Delhi-NCR.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335535"/>
            <a:ext cx="50768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Securing prime commercial &amp; residential charging sites now.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2978348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3359348"/>
            <a:ext cx="219075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9162" y="428625"/>
            <a:ext cx="11266408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Regulatory Growth Driver: Delhi EV Policy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489495"/>
            <a:ext cx="261937" cy="2667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2925" y="1045815"/>
          <a:ext cx="11087097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6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0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7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 SemiBold"/>
                        </a:rPr>
                        <a:t>Feature /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 SemiBold"/>
                        </a:rPr>
                        <a:t>Ather Energy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 SemiBold"/>
                        </a:rPr>
                        <a:t>Ola Electric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 SemiBold"/>
                        </a:rPr>
                        <a:t>TVS iQube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 SemiBold"/>
                        </a:rPr>
                        <a:t>Hero Vida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Fast Charging Network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Extensive (Ather Grid)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Hypercharge Network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Limited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Expanding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App Route Navigation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Built-In (Google Maps)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Built-In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Partial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Basic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Slot Reservation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Not Available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Not Available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Not Available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Not Available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Predictive Route Planning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Basic Search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Basic Search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Open Charging Standard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LECCS Pioneer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Proprietary focus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Proprietary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 SemiBold"/>
                        </a:rPr>
                        <a:t>LECCS Partner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52450" y="1536352"/>
            <a:ext cx="27467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99221" y="1536352"/>
            <a:ext cx="247337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2596" y="1536352"/>
            <a:ext cx="24485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1116" y="1536352"/>
            <a:ext cx="16406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861798" y="1536352"/>
            <a:ext cx="17777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2450" y="2026890"/>
            <a:ext cx="27467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9221" y="2026890"/>
            <a:ext cx="247337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72596" y="2026890"/>
            <a:ext cx="24485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1116" y="2026890"/>
            <a:ext cx="16406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61798" y="2026890"/>
            <a:ext cx="17777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2450" y="2517427"/>
            <a:ext cx="27467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9221" y="2517427"/>
            <a:ext cx="247337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72596" y="2517427"/>
            <a:ext cx="24485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1116" y="2517427"/>
            <a:ext cx="16406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861798" y="2517427"/>
            <a:ext cx="17777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2450" y="3007965"/>
            <a:ext cx="27467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99221" y="3007965"/>
            <a:ext cx="247337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72596" y="3007965"/>
            <a:ext cx="24485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1116" y="3007965"/>
            <a:ext cx="16406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861798" y="3007965"/>
            <a:ext cx="17777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52450" y="3498502"/>
            <a:ext cx="27467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99221" y="3498502"/>
            <a:ext cx="247337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596" y="3498502"/>
            <a:ext cx="24485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1116" y="3498502"/>
            <a:ext cx="16406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861798" y="3498502"/>
            <a:ext cx="17777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9162" y="428625"/>
            <a:ext cx="11266408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Market Competitor Benchmarking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045815"/>
            <a:ext cx="5457825" cy="10819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045815"/>
            <a:ext cx="5457825" cy="10819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318295"/>
            <a:ext cx="5457825" cy="10819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2318295"/>
            <a:ext cx="5457825" cy="10819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489495"/>
            <a:ext cx="261937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2950" y="1245840"/>
            <a:ext cx="5310663" cy="20568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34D399"/>
                </a:solidFill>
                <a:latin typeface="Poppins"/>
              </a:rP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1527720"/>
            <a:ext cx="50577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Pioneer in fast charging; deep vertical software integration; high customer brand trust; LECCS interoperability.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275" y="1245840"/>
            <a:ext cx="5310663" cy="20568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F87171"/>
                </a:solidFill>
                <a:latin typeface="Poppins"/>
              </a:rPr>
              <a:t>Weaknesses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275" y="1527720"/>
            <a:ext cx="50577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Gaps in Tier II/III coverage; lack of slot reservation; challenges for apartment residents without home plugs.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518320"/>
            <a:ext cx="5310663" cy="20568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22D3EE"/>
                </a:solidFill>
                <a:latin typeface="Poppins"/>
              </a:rPr>
              <a:t>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800201"/>
            <a:ext cx="50577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Delhi 2028 EV mandate; AI-driven route stop automation; fuel station partnership expansions (IOCL, BPCL, HPCL).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2518320"/>
            <a:ext cx="5310663" cy="20568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FBBF24"/>
                </a:solidFill>
                <a:latin typeface="Poppins"/>
              </a:rPr>
              <a:t>Threats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2800201"/>
            <a:ext cx="50577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Aggressive network expansion by legacy &amp; new EV players; high capex requirements; potential subsidy shifts.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1264890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1264890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2537370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2537370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9162" y="428625"/>
            <a:ext cx="11266408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Ather Charging Ecosystem SWOT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045815"/>
            <a:ext cx="2605087" cy="2457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612" y="1045815"/>
            <a:ext cx="2605087" cy="2457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045815"/>
            <a:ext cx="2605087" cy="2457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987" y="1045815"/>
            <a:ext cx="2605087" cy="2457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489495"/>
            <a:ext cx="195262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050" y="1855440"/>
            <a:ext cx="22352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1. Charging Analytics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407890"/>
            <a:ext cx="212883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Cross-functional data intelligence unit deploying Neighborhood Chargers using anonymized rider telematics.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4737" y="1855440"/>
            <a:ext cx="22352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2. Smart Route 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4737" y="2407890"/>
            <a:ext cx="212883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AI feature ("Plan Charging on the Way") predicting SOC drops and automatically scheduling charging stops.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1855440"/>
            <a:ext cx="22352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3. Slot Reservations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2179290"/>
            <a:ext cx="212883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Premium reservation windows for high-demand Ather Grid hubs to eliminate queue uncertainty.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2112" y="1855440"/>
            <a:ext cx="22352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4. Retail Fuel Partnerships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2112" y="2407890"/>
            <a:ext cx="212883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Massive infrastructure co-location with petrol retailers (IOCL, BPCL, HPCL) &amp; Charging+ Subscriptions.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1322040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4737" y="1322040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1322040"/>
            <a:ext cx="304800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2112" y="1322040"/>
            <a:ext cx="428625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2487" y="428625"/>
            <a:ext cx="11336416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Proposed Strategic Solutions Overview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045815"/>
            <a:ext cx="5381625" cy="12020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381250"/>
            <a:ext cx="5381625" cy="120208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489495"/>
            <a:ext cx="328612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1045815"/>
            <a:ext cx="18859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925" y="1407765"/>
            <a:ext cx="5650706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8FAFC"/>
                </a:solidFill>
                <a:latin typeface="Poppins"/>
              </a:rPr>
              <a:t>Evidence-Based Site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925" y="1773435"/>
            <a:ext cx="5381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Instead of manual site requests, Ather will establish a dedicated Analytics Team analyzing live connected vehicle telematics: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363985"/>
            <a:ext cx="5076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Key Data Inputs: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SOC drops below 20%, high-density residential clusters, daily route corridors.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973585"/>
            <a:ext cx="5076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Target Deployment: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Placing Neighborhood Chargers near urban apartments lacking private plugs.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1207740"/>
            <a:ext cx="5310663" cy="18276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>
                <a:solidFill>
                  <a:srgbClr val="34D399"/>
                </a:solidFill>
                <a:latin typeface="Poppins"/>
              </a:rPr>
              <a:t>Data Scientists &amp; GIS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1390501"/>
            <a:ext cx="50577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Spatial heatmaps &amp; predictive clustering models for demand forecasting.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2543175"/>
            <a:ext cx="5310663" cy="18276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>
                <a:solidFill>
                  <a:srgbClr val="34D399"/>
                </a:solidFill>
                <a:latin typeface="Poppins"/>
              </a:rPr>
              <a:t>Product &amp; Ops Leads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2725935"/>
            <a:ext cx="5057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Converting data insights into rapid CPO site onboarding &amp; hardware execution.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1217265"/>
            <a:ext cx="1905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552700"/>
            <a:ext cx="1714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2387798"/>
            <a:ext cx="1524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2997398"/>
            <a:ext cx="171450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5837" y="428625"/>
            <a:ext cx="11196399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Solution 1: Charging Analytics Team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489495"/>
            <a:ext cx="261937" cy="2667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2925" y="1045815"/>
          <a:ext cx="11087098" cy="3319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6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6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3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89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 SemiBold"/>
                        </a:rPr>
                        <a:t>Data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 SemiBold"/>
                        </a:rPr>
                        <a:t>Telematics &amp; System Inputs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 SemiBold"/>
                        </a:rPr>
                        <a:t>Strategic Analytical Outcome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89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Vehicle Telematics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Daily mileage, SOC depletion rate, speed profiles, low-battery locations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Identify "range-danger zones" across city commuter routes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89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Charging Habits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Home plug frequency, fast-charging durations, idle post-charge times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Highlight apartment clusters relying entirely on public charging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89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Spatial GIS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Commercial POIs, society density, IT parks, highway exit corridors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Optimized placement coordinates for Neighborhood Chargers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894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Predictive Algorithms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K-Means clustering, route density forecasting, occupancy trends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Maximize charger ROI and eliminate dead-zone deployments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52450" y="1536352"/>
            <a:ext cx="17668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19337" y="1536352"/>
            <a:ext cx="491683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36172" y="1536352"/>
            <a:ext cx="440337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2450" y="2241202"/>
            <a:ext cx="17668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19337" y="2241202"/>
            <a:ext cx="491683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36172" y="2241202"/>
            <a:ext cx="440337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2450" y="2946052"/>
            <a:ext cx="17668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19337" y="2946052"/>
            <a:ext cx="491683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36172" y="2946052"/>
            <a:ext cx="440337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2450" y="3650902"/>
            <a:ext cx="17668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19337" y="3650902"/>
            <a:ext cx="491683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36172" y="3650902"/>
            <a:ext cx="440337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9162" y="428625"/>
            <a:ext cx="11266408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Analytical Framework &amp; Telematics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9162" y="428625"/>
            <a:ext cx="4995624" cy="319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oppins"/>
              </a:rPr>
              <a:t>Solution 2: Smart Route Planning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455265"/>
            <a:ext cx="261937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977205"/>
            <a:ext cx="23812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925" y="1339155"/>
            <a:ext cx="5133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Inter"/>
              </a:rPr>
              <a:t>Long-distance rides often cause range anxiety when users try to manually calculate if their battery will last both onward and return legs.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9825" y="1339155"/>
            <a:ext cx="51339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Inter"/>
              </a:rPr>
              <a:t>AI-Powered Trip Planning:</a:t>
            </a:r>
            <a:r>
              <a:rPr sz="1200" b="0" i="0" u="none" dirty="0">
                <a:solidFill>
                  <a:srgbClr val="CBD5E1"/>
                </a:solidFill>
                <a:latin typeface="Inter"/>
              </a:rPr>
              <a:t> By integrating real-time SOC, route elevation, weather, traffic, and live grid occupancy, the Ather App automatically calculates precise charging breaks before setting off.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A421B0-2556-CF78-D1ED-56C0A7A28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6" y="2386905"/>
            <a:ext cx="10810874" cy="40158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828776"/>
            <a:ext cx="11106150" cy="82956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445865"/>
            <a:ext cx="2129730" cy="11924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955" y="1445865"/>
            <a:ext cx="2129730" cy="11924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0985" y="1445865"/>
            <a:ext cx="2129730" cy="119241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5016" y="1445865"/>
            <a:ext cx="2129730" cy="119241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9046" y="1445865"/>
            <a:ext cx="2129730" cy="119241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3965" y="1607790"/>
            <a:ext cx="2476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7995" y="1607790"/>
            <a:ext cx="2476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2026" y="1607790"/>
            <a:ext cx="2476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6056" y="1607790"/>
            <a:ext cx="2476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60087" y="1607790"/>
            <a:ext cx="2476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925" y="489495"/>
            <a:ext cx="195262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2925" y="1045815"/>
            <a:ext cx="11106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High-Fidelity Feature Workflow: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Plan Charging on the Way</a:t>
            </a:r>
          </a:p>
        </p:txBody>
      </p:sp>
      <p:sp>
        <p:nvSpPr>
          <p:cNvPr id="16" name="Rounded Rectangle 15">
            <a:hlinkClick r:id="rId14"/>
          </p:cNvPr>
          <p:cNvSpPr/>
          <p:nvPr/>
        </p:nvSpPr>
        <p:spPr>
          <a:xfrm>
            <a:off x="9696450" y="3057515"/>
            <a:ext cx="1752600" cy="352425"/>
          </a:xfrm>
          <a:prstGeom prst="roundRect">
            <a:avLst>
              <a:gd name="adj" fmla="val 21621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96500" y="3162597"/>
            <a:ext cx="11620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 dirty="0">
                <a:solidFill>
                  <a:srgbClr val="022C22"/>
                </a:solidFill>
                <a:latin typeface="Inter"/>
              </a:rPr>
              <a:t>Launch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697" y="1950690"/>
            <a:ext cx="197618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 u="none">
                <a:solidFill>
                  <a:srgbClr val="FFFFFF"/>
                </a:solidFill>
                <a:latin typeface="Poppins"/>
              </a:rPr>
              <a:t>Home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2179290"/>
            <a:ext cx="188208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Quick shortcut card to "Plan Charging on the Way"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3728" y="1950690"/>
            <a:ext cx="197618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 u="none">
                <a:solidFill>
                  <a:srgbClr val="FFFFFF"/>
                </a:solidFill>
                <a:latin typeface="Poppins"/>
              </a:rPr>
              <a:t>Destination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0780" y="2179290"/>
            <a:ext cx="188208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User inputs destination &amp; selects route parameters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7758" y="1950690"/>
            <a:ext cx="197618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 u="none">
                <a:solidFill>
                  <a:srgbClr val="FFFFFF"/>
                </a:solidFill>
                <a:latin typeface="Poppins"/>
              </a:rPr>
              <a:t>Range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4810" y="2179290"/>
            <a:ext cx="188208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App compares distance vs SOC and flags requirement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1789" y="1950690"/>
            <a:ext cx="197618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 u="none">
                <a:solidFill>
                  <a:srgbClr val="FFFFFF"/>
                </a:solidFill>
                <a:latin typeface="Poppins"/>
              </a:rPr>
              <a:t>Smart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8841" y="2179290"/>
            <a:ext cx="188208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Recommends Ather Grid Raj Nagar (12 min, +28%)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5819" y="1950690"/>
            <a:ext cx="197618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 u="none">
                <a:solidFill>
                  <a:srgbClr val="FFFFFF"/>
                </a:solidFill>
                <a:latin typeface="Poppins"/>
              </a:rPr>
              <a:t>Navigation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2871" y="2179290"/>
            <a:ext cx="188208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Trip summary confirmed &amp; live turn navigation starts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3028801"/>
            <a:ext cx="8899921" cy="217688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>
              <a:lnSpc>
                <a:spcPts val="1620"/>
              </a:lnSpc>
            </a:pPr>
            <a:r>
              <a:rPr sz="1350" b="1" i="0" u="none" dirty="0">
                <a:solidFill>
                  <a:srgbClr val="FFFFFF"/>
                </a:solidFill>
                <a:latin typeface="Poppins"/>
              </a:rPr>
              <a:t>Interactive Prototype Link</a:t>
            </a:r>
            <a:r>
              <a:rPr lang="en-IN" sz="1350" b="1" i="0" u="none" dirty="0">
                <a:solidFill>
                  <a:srgbClr val="FFFFFF"/>
                </a:solidFill>
                <a:latin typeface="Poppins"/>
              </a:rPr>
              <a:t> - </a:t>
            </a:r>
            <a:r>
              <a:rPr lang="en-I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https://ai.studio/apps/238fd53c-1aea-4de6-9d6d-1316c4127931</a:t>
            </a:r>
            <a:endParaRPr sz="1350" b="1" i="0" u="none" dirty="0">
              <a:solidFill>
                <a:schemeClr val="accent5">
                  <a:lumMod val="60000"/>
                  <a:lumOff val="40000"/>
                </a:schemeClr>
              </a:solidFill>
              <a:latin typeface="Poppins"/>
            </a:endParaRP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25200" y="3176885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950" y="3047851"/>
            <a:ext cx="104775" cy="171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2487" y="428625"/>
            <a:ext cx="11336416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App UX Flow &amp; Interactive Prototype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045815"/>
            <a:ext cx="5381625" cy="29374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045815"/>
            <a:ext cx="5381625" cy="29374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489495"/>
            <a:ext cx="233362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1322040"/>
            <a:ext cx="5070633" cy="25137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34D399"/>
                </a:solidFill>
                <a:latin typeface="Poppins"/>
              </a:rPr>
              <a:t>Guaranteed Fast Charging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1687710"/>
            <a:ext cx="4829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Riders requiring urgent battery top-ups during peak hours can reserve a 15–30 minute charging slot at high-demand Ather Grid hubs for a nominal fee.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3675" y="1322040"/>
            <a:ext cx="5070633" cy="25137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6B6D4"/>
                </a:solidFill>
                <a:latin typeface="Poppins"/>
              </a:rPr>
              <a:t>Revenue &amp; Efficiency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1687710"/>
            <a:ext cx="48291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Creates a premium monetization channel while dramatically reducing station congestion and customer waiting frustration.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133156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50" y="2487810"/>
            <a:ext cx="4524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Automated Hold Windows: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5-minute grace period to prevent slot hoarding.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3097410"/>
            <a:ext cx="4524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Dynamic Off-Peak Rules: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Reserved slots revert to public pool if unoccupied.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1331565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48475" y="2259210"/>
            <a:ext cx="4524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Queue Visibility: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Real-time waiting time estimations on mobile map.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475" y="2868810"/>
            <a:ext cx="4524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Priority Access: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Integrated into Ather Charging+ subscription tiers.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511623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121223"/>
            <a:ext cx="1524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2283023"/>
            <a:ext cx="1524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2892623"/>
            <a:ext cx="152400" cy="1809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0587" y="428625"/>
            <a:ext cx="11296411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Solution 3: Charging Slot Reservations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E839D4-FBB0-B4F2-A4FB-39A3FCB8450F}"/>
              </a:ext>
            </a:extLst>
          </p:cNvPr>
          <p:cNvSpPr txBox="1"/>
          <p:nvPr/>
        </p:nvSpPr>
        <p:spPr>
          <a:xfrm>
            <a:off x="542925" y="4506217"/>
            <a:ext cx="90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Prototype link - </a:t>
            </a:r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https://ather-grid-677520987911.asia-southeast1.run.app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045815"/>
            <a:ext cx="5381625" cy="27384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489495"/>
            <a:ext cx="261937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1045815"/>
            <a:ext cx="2014537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2925" y="1407765"/>
            <a:ext cx="5650706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8FAFC"/>
                </a:solidFill>
                <a:latin typeface="Poppins"/>
              </a:rPr>
              <a:t>Partnering with Oil Marketing Companies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925" y="1773435"/>
            <a:ext cx="5381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Accelerating Ather Grid expansion through direct partnerships with major fuel retailers including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IOCL, BPCL, and HPCL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055340"/>
            <a:ext cx="5362575" cy="27193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25" y="2363985"/>
            <a:ext cx="5076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Prime Real Estate: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Utilizing existing petrol station footprints across Tier I, II, III cities &amp; highways.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973585"/>
            <a:ext cx="5076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Safety &amp; Trust: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Secure, well-lit, 24/7 accessible charging environments for commuters.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2387798"/>
            <a:ext cx="1333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2997398"/>
            <a:ext cx="17145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9162" y="428625"/>
            <a:ext cx="11266408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Solution 4: Strategic Fuel Retailer Alliances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045815"/>
            <a:ext cx="5381625" cy="2457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045815"/>
            <a:ext cx="5381625" cy="2457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489495"/>
            <a:ext cx="300037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050" y="1283940"/>
            <a:ext cx="5150643" cy="228600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34D399"/>
                </a:solidFill>
                <a:latin typeface="Poppins"/>
              </a:rPr>
              <a:t>Ather Charging+ Subscription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1607790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Recurring revenue model offering bundled benefits for high-mileage users, delivery partners, and daily commuters.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575" y="1283940"/>
            <a:ext cx="5150643" cy="2286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6B6D4"/>
                </a:solidFill>
                <a:latin typeface="Poppins"/>
              </a:rPr>
              <a:t>Demand-Driven B2B 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1607790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Geospatial marketing to attract private host partners and commercial establishments with low capital outlay.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1302990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50" y="2122140"/>
            <a:ext cx="4600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Discounted or unlimited grid charging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2503140"/>
            <a:ext cx="4600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Free slot reservation credits per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2884140"/>
            <a:ext cx="4600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Priority customer support &amp; charging discounts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1302990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10375" y="2122140"/>
            <a:ext cx="4600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Targeting commercial property &amp; apartment RWA boards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2503140"/>
            <a:ext cx="4600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Low-capex revenue-share host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0375" y="2884140"/>
            <a:ext cx="4600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Hyper-local digital awareness campaigns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2145952"/>
            <a:ext cx="1905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2526952"/>
            <a:ext cx="19050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2907952"/>
            <a:ext cx="19050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2145952"/>
            <a:ext cx="1714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2526952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2907952"/>
            <a:ext cx="171450" cy="1809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7262" y="428625"/>
            <a:ext cx="11226403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Solution 5: Ather Charging+ &amp; Marketing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3322290"/>
            <a:ext cx="11106150" cy="10915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045815"/>
            <a:ext cx="3549699" cy="2085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224" y="1045815"/>
            <a:ext cx="3549699" cy="2085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9524" y="1045815"/>
            <a:ext cx="3549699" cy="2085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489495"/>
            <a:ext cx="261937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297" y="3522315"/>
            <a:ext cx="11241405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sz="1350" b="1" i="0" u="none">
                <a:solidFill>
                  <a:srgbClr val="FFFFFF"/>
                </a:solidFill>
                <a:latin typeface="Poppins"/>
              </a:rPr>
              <a:t>Strategic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3785145"/>
            <a:ext cx="107061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By combining data intelligence, proactive route planning, and flexible charging reservations, Ather Energy transforms EV charging from a barrier into a decisive competitive advantage.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185544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Range Anxiety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2179290"/>
            <a:ext cx="3073449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4D399"/>
                </a:solidFill>
                <a:latin typeface="Inter"/>
              </a:rPr>
              <a:t>-45%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Reduction in riders reaching critical &lt;15% SOC emergency 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349" y="185544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Grid Utilization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349" y="2179290"/>
            <a:ext cx="3073449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4D399"/>
                </a:solidFill>
                <a:latin typeface="Inter"/>
              </a:rPr>
              <a:t>+35%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Increase in off-peak and neighborhood charger utilization.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7649" y="185544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Poppins SemiBold"/>
              </a:rPr>
              <a:t>Reservation CSAT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7649" y="2179290"/>
            <a:ext cx="3073449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4D399"/>
                </a:solidFill>
                <a:latin typeface="Inter"/>
              </a:rPr>
              <a:t>4.8 / 5.0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Target satisfaction score for fast-charging slot certainty.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1322040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9349" y="1322040"/>
            <a:ext cx="390525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7649" y="1322040"/>
            <a:ext cx="3429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9162" y="428625"/>
            <a:ext cx="11266408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Success Metrics (KPIs) &amp; Impact Summary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1045815"/>
            <a:ext cx="111061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2925" y="1817340"/>
            <a:ext cx="111061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2925" y="2588865"/>
            <a:ext cx="11106150" cy="11287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2925" y="3717577"/>
            <a:ext cx="111061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25" y="1807815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1807815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2925" y="2579340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25" y="2579340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2925" y="3708052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2925" y="3708052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2925" y="4479577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2925" y="4479577"/>
            <a:ext cx="111061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18869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38300" y="1195833"/>
            <a:ext cx="10010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https://media.atherenergy.com/Home-Charging-vs-Public-Charging.webp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8300" y="1429196"/>
            <a:ext cx="10010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www.atherenergy.com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96021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38300" y="1967358"/>
            <a:ext cx="10010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https://skywell-uk.com/wp-content/uploads/2026/05/what-is-an-ev-charging-hub-public-fast-chargers-1024x576.jpg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8300" y="2200721"/>
            <a:ext cx="10010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skywell-uk.com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910333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38300" y="2731740"/>
            <a:ext cx="10010775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ww2.mathworks.cn/company/mathworks-stories/green-tech-startup-creates-smart-e-scooters-india/_jcr_content/mainParsys2/columns_1912233028_c/02542e5d-1b7b-48e6-aacb-5a47c2a43a5c/columns_917450907/8313b592-25eb-45a6-b349-bcfc1983e13c/columns_320727814_co/18897323-014e-432d-8828-20872c7d83dd/image_copy.adapt.full.medium.jpg/1778577856484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8300" y="3336577"/>
            <a:ext cx="10010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ww2.mathworks.cn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3860452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38300" y="3867596"/>
            <a:ext cx="10010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https://eleport.com/wp-content/uploads/2025/07/6-Octopus-Electroverse.jpg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38300" y="4100958"/>
            <a:ext cx="10010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eleport.com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4631977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38300" y="4639121"/>
            <a:ext cx="100107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https://evbox.com/app/uploads/2025/07/Desktop.b65ff00a.hero_fuelretail.webp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38300" y="4872483"/>
            <a:ext cx="10010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evbox.com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925" y="428625"/>
            <a:ext cx="11649075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Image Sources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E17606-27A0-F27B-A5A5-83D9CA7A748A}"/>
              </a:ext>
            </a:extLst>
          </p:cNvPr>
          <p:cNvSpPr txBox="1"/>
          <p:nvPr/>
        </p:nvSpPr>
        <p:spPr>
          <a:xfrm>
            <a:off x="4758813" y="5428804"/>
            <a:ext cx="4041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accent2">
                    <a:lumMod val="75000"/>
                  </a:schemeClr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1747</Words>
  <Application>Microsoft Macintosh PowerPoint</Application>
  <PresentationFormat>Widescreen</PresentationFormat>
  <Paragraphs>233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varumahendra14@gmail.com</cp:lastModifiedBy>
  <cp:revision>4</cp:revision>
  <dcterms:created xsi:type="dcterms:W3CDTF">2013-01-27T09:14:16Z</dcterms:created>
  <dcterms:modified xsi:type="dcterms:W3CDTF">2026-10-14T17:20:16Z</dcterms:modified>
  <cp:category/>
</cp:coreProperties>
</file>